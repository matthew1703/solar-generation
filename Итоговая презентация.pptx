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70" r:id="rId4"/>
    <p:sldId id="265" r:id="rId5"/>
    <p:sldId id="271" r:id="rId6"/>
    <p:sldId id="266" r:id="rId7"/>
    <p:sldId id="267" r:id="rId8"/>
    <p:sldId id="268" r:id="rId9"/>
    <p:sldId id="269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443"/>
    <a:srgbClr val="0003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08.06.2023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754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08.06.2023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0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08.06.2023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91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08.06.2023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430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08.06.2023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518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08.06.2023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073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08.06.2023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159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08.06.2023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68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08.06.2023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788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08.06.2023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824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08.06.2023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66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C34F5-BDE2-4375-B83B-F49841317258}" type="datetimeFigureOut">
              <a:rPr lang="ru-RU" smtClean="0"/>
              <a:t>08.06.2023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83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447" y="0"/>
            <a:ext cx="12200338" cy="6858000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721664" y="1989144"/>
            <a:ext cx="8351316" cy="233169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Применение ансамблевых моделей машинного обучения в задаче краткосрочного прогнозирования инсоляции с кластеризацией метеорологических условий</a:t>
            </a:r>
            <a:endParaRPr lang="ru-RU" altLang="ru-RU" sz="2800" b="1" cap="all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37230" y="5024387"/>
            <a:ext cx="387862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Докладчик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Бачурин Матвей Владимирович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ЦК-22-031-001 </a:t>
            </a:r>
          </a:p>
          <a:p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27061" r="44625" b="33918"/>
          <a:stretch/>
        </p:blipFill>
        <p:spPr>
          <a:xfrm>
            <a:off x="286116" y="215350"/>
            <a:ext cx="2016631" cy="1070243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82F0FB3-DCFE-F59C-448E-99C2B054B056}"/>
              </a:ext>
            </a:extLst>
          </p:cNvPr>
          <p:cNvSpPr/>
          <p:nvPr/>
        </p:nvSpPr>
        <p:spPr>
          <a:xfrm>
            <a:off x="2302747" y="398814"/>
            <a:ext cx="59921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ОБРАБОТКА И АНАЛИЗ ДАННЫХ В ЗАДАЧАХ ЭЛЕКТРОЭНЕРГЕТИКИ С ИСПОЛЬЗОВАНИЕМ PYTHON</a:t>
            </a:r>
          </a:p>
        </p:txBody>
      </p:sp>
    </p:spTree>
    <p:extLst>
      <p:ext uri="{BB962C8B-B14F-4D97-AF65-F5344CB8AC3E}">
        <p14:creationId xmlns:p14="http://schemas.microsoft.com/office/powerpoint/2010/main" val="2579923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Объект 1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2DF96E3-9102-929C-D1E7-E0913F5DEACD}"/>
              </a:ext>
            </a:extLst>
          </p:cNvPr>
          <p:cNvSpPr/>
          <p:nvPr/>
        </p:nvSpPr>
        <p:spPr>
          <a:xfrm>
            <a:off x="5130259" y="313852"/>
            <a:ext cx="21403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ВВЕДЕНИЕ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2762C9E-7236-D098-A0A7-62B99261D5FA}"/>
              </a:ext>
            </a:extLst>
          </p:cNvPr>
          <p:cNvSpPr/>
          <p:nvPr/>
        </p:nvSpPr>
        <p:spPr>
          <a:xfrm>
            <a:off x="925619" y="1537407"/>
            <a:ext cx="10865327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Актуальность работы: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ближайшее десятилетие цифровые технологии должны объединить мировые энергетические системы сделав их взаимосвязанными, что в свою очередь повысит их эффективность, надежность и устойчивость. На</a:t>
            </a:r>
            <a:r>
              <a:rPr lang="ru-RU" sz="2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сегодняшний</a:t>
            </a:r>
            <a:r>
              <a:rPr lang="ru-RU" sz="2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момент</a:t>
            </a:r>
            <a:r>
              <a:rPr lang="ru-RU" sz="2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мировой</a:t>
            </a:r>
            <a:r>
              <a:rPr lang="ru-RU" sz="2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солнечной </a:t>
            </a:r>
            <a:r>
              <a:rPr lang="ru-RU" sz="2800" spc="-2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энергетике</a:t>
            </a:r>
            <a:r>
              <a:rPr lang="ru-RU" sz="2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краткосрочное</a:t>
            </a:r>
            <a:r>
              <a:rPr lang="ru-RU" sz="2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прогнозирование</a:t>
            </a:r>
            <a:r>
              <a:rPr lang="ru-RU" sz="2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производства солнечной энергии не имеет проверенной и</a:t>
            </a:r>
            <a:r>
              <a:rPr lang="ru-RU" sz="2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 конца испытанной технологии и зачастую связано</a:t>
            </a:r>
            <a:r>
              <a:rPr lang="ru-RU" sz="2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2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6oльшими</a:t>
            </a:r>
            <a:r>
              <a:rPr lang="ru-RU" sz="2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ошибками</a:t>
            </a:r>
            <a:r>
              <a:rPr lang="ru-RU" sz="2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прогноза,</a:t>
            </a:r>
            <a:r>
              <a:rPr lang="ru-RU" sz="2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достигающими</a:t>
            </a:r>
            <a:r>
              <a:rPr lang="ru-RU" sz="2800" spc="-2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иногда 60-65%. И вопрос разработки алгоритмов точного прогнозирования солнечной генерации остается актуальным.</a:t>
            </a:r>
            <a:endParaRPr lang="ru-R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565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Объект 1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2DF96E3-9102-929C-D1E7-E0913F5DEACD}"/>
              </a:ext>
            </a:extLst>
          </p:cNvPr>
          <p:cNvSpPr/>
          <p:nvPr/>
        </p:nvSpPr>
        <p:spPr>
          <a:xfrm>
            <a:off x="5130259" y="313852"/>
            <a:ext cx="21403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ВВЕДЕНИЕ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2762C9E-7236-D098-A0A7-62B99261D5FA}"/>
              </a:ext>
            </a:extLst>
          </p:cNvPr>
          <p:cNvSpPr/>
          <p:nvPr/>
        </p:nvSpPr>
        <p:spPr>
          <a:xfrm>
            <a:off x="535002" y="1249994"/>
            <a:ext cx="11255945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Цель проекта: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Повышение точности краткосрочного прогнозирования генерации фотоэлектрической станции с помощью разработки модели и прототипа программного обеспечения, выполняющих прогнозирование уровня солнечной инсоляции.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81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Объект 1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2DF96E3-9102-929C-D1E7-E0913F5DEACD}"/>
              </a:ext>
            </a:extLst>
          </p:cNvPr>
          <p:cNvSpPr/>
          <p:nvPr/>
        </p:nvSpPr>
        <p:spPr>
          <a:xfrm>
            <a:off x="3527882" y="313852"/>
            <a:ext cx="59650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ОПИСАНИЕ РЕШАЕМОЙ ЗАДАЧИ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8D77684-22D3-D701-DDA9-318E8BC6821E}"/>
              </a:ext>
            </a:extLst>
          </p:cNvPr>
          <p:cNvSpPr/>
          <p:nvPr/>
        </p:nvSpPr>
        <p:spPr>
          <a:xfrm>
            <a:off x="603099" y="1178972"/>
            <a:ext cx="1118784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Исходные данные для решаемой задачи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altLang="en-US" sz="1600" dirty="0"/>
              <a:t>Погода взята с сайта Solcast.com</a:t>
            </a:r>
            <a:r>
              <a:rPr lang="en-US" altLang="en-US" sz="1600" dirty="0"/>
              <a:t>, </a:t>
            </a:r>
            <a:r>
              <a:rPr lang="ru-RU" altLang="en-US" sz="1600" dirty="0"/>
              <a:t>координаты (</a:t>
            </a:r>
            <a:r>
              <a:rPr lang="ru-RU" altLang="en-US" sz="1600" dirty="0" err="1"/>
              <a:t>lat</a:t>
            </a:r>
            <a:r>
              <a:rPr lang="ru-RU" altLang="en-US" sz="1600" dirty="0"/>
              <a:t> - 44.961239034914975 </a:t>
            </a:r>
            <a:r>
              <a:rPr lang="ru-RU" altLang="en-US" sz="1600" dirty="0" err="1"/>
              <a:t>long</a:t>
            </a:r>
            <a:r>
              <a:rPr lang="ru-RU" altLang="en-US" sz="1600" dirty="0"/>
              <a:t> - 37.2849334653842)</a:t>
            </a:r>
            <a:r>
              <a:rPr lang="en-US" altLang="en-US" sz="1600" dirty="0"/>
              <a:t>, </a:t>
            </a:r>
            <a:r>
              <a:rPr lang="ru-RU" altLang="en-US" sz="1600" dirty="0"/>
              <a:t>дискретность данных – 1 час.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Замещающее содержимое 5">
            <a:extLst>
              <a:ext uri="{FF2B5EF4-FFF2-40B4-BE49-F238E27FC236}">
                <a16:creationId xmlns:a16="http://schemas.microsoft.com/office/drawing/2014/main" id="{7E21BF44-15FE-B98D-E388-55C6222F4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99" y="2857512"/>
            <a:ext cx="5260739" cy="36809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9A3168-88B2-68DA-AADF-6370BC123944}"/>
              </a:ext>
            </a:extLst>
          </p:cNvPr>
          <p:cNvSpPr txBox="1"/>
          <p:nvPr/>
        </p:nvSpPr>
        <p:spPr>
          <a:xfrm>
            <a:off x="7344052" y="241117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en-US" dirty="0"/>
              <a:t>Файл с генерацией  </a:t>
            </a:r>
          </a:p>
        </p:txBody>
      </p:sp>
      <p:pic>
        <p:nvPicPr>
          <p:cNvPr id="9" name="Замещающее содержимое 9">
            <a:extLst>
              <a:ext uri="{FF2B5EF4-FFF2-40B4-BE49-F238E27FC236}">
                <a16:creationId xmlns:a16="http://schemas.microsoft.com/office/drawing/2014/main" id="{5F356BDA-34FC-606A-BB6B-6F064D407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163" y="2857512"/>
            <a:ext cx="5230618" cy="36809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B8F903-62DB-88B3-BF83-D69FEF94F0A3}"/>
              </a:ext>
            </a:extLst>
          </p:cNvPr>
          <p:cNvSpPr txBox="1"/>
          <p:nvPr/>
        </p:nvSpPr>
        <p:spPr>
          <a:xfrm>
            <a:off x="1940812" y="2414742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en-US" dirty="0"/>
              <a:t>Файл с погодой  </a:t>
            </a:r>
          </a:p>
        </p:txBody>
      </p:sp>
    </p:spTree>
    <p:extLst>
      <p:ext uri="{BB962C8B-B14F-4D97-AF65-F5344CB8AC3E}">
        <p14:creationId xmlns:p14="http://schemas.microsoft.com/office/powerpoint/2010/main" val="3024133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Объект 1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2DF96E3-9102-929C-D1E7-E0913F5DEACD}"/>
              </a:ext>
            </a:extLst>
          </p:cNvPr>
          <p:cNvSpPr/>
          <p:nvPr/>
        </p:nvSpPr>
        <p:spPr>
          <a:xfrm>
            <a:off x="3527882" y="313852"/>
            <a:ext cx="59650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ОПИСАНИЕ РЕШАЕМОЙ ЗАДАЧИ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8D77684-22D3-D701-DDA9-318E8BC6821E}"/>
              </a:ext>
            </a:extLst>
          </p:cNvPr>
          <p:cNvSpPr/>
          <p:nvPr/>
        </p:nvSpPr>
        <p:spPr>
          <a:xfrm>
            <a:off x="603100" y="1205605"/>
            <a:ext cx="9924716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Используемые средства разработки: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Язык программирования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и его библиотеки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Pandas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Matplotlib,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Plotly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, Seaborn, Bokeh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Scikit-learn, </a:t>
            </a:r>
            <a:r>
              <a:rPr lang="en-US" sz="14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Среда разработки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en-US" sz="14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Notebook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Изображение выглядит как текст, Шрифт, снимок экрана, белый&#10;&#10;Автоматически созданное описание">
            <a:extLst>
              <a:ext uri="{FF2B5EF4-FFF2-40B4-BE49-F238E27FC236}">
                <a16:creationId xmlns:a16="http://schemas.microsoft.com/office/drawing/2014/main" id="{ABFF81F8-E200-B233-99A6-9DC198536D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00" y="4461254"/>
            <a:ext cx="4277322" cy="1476581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программное обеспечение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3216E8D0-BF5B-61DF-009A-E93F12286E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5524" y="2291652"/>
            <a:ext cx="6437946" cy="364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304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Объект 1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2DF96E3-9102-929C-D1E7-E0913F5DEACD}"/>
              </a:ext>
            </a:extLst>
          </p:cNvPr>
          <p:cNvSpPr/>
          <p:nvPr/>
        </p:nvSpPr>
        <p:spPr>
          <a:xfrm>
            <a:off x="4172314" y="313852"/>
            <a:ext cx="49006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ЭТАПЫ РЕШЕНИЯ ЗАДАЧИ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5171651-4890-7B21-C0D1-509B9A4A69C1}"/>
              </a:ext>
            </a:extLst>
          </p:cNvPr>
          <p:cNvSpPr/>
          <p:nvPr/>
        </p:nvSpPr>
        <p:spPr>
          <a:xfrm>
            <a:off x="925620" y="1353135"/>
            <a:ext cx="8557895" cy="47840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Формирование требований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Поиск источников данных</a:t>
            </a:r>
          </a:p>
          <a:p>
            <a:pPr lvl="0" algn="just">
              <a:lnSpc>
                <a:spcPct val="107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   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План работ (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Поиск метеорологических данных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Обработка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фильтрация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интерпретация данных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Анализ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визуализация данных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Применение ансамблевых моделей для краткосрочного прогнозирования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Сравнение различных ансамблевых моделей по основным метрикам оценки качества правильного преобразования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Реализация 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Подготовка отчета</a:t>
            </a:r>
          </a:p>
        </p:txBody>
      </p:sp>
    </p:spTree>
    <p:extLst>
      <p:ext uri="{BB962C8B-B14F-4D97-AF65-F5344CB8AC3E}">
        <p14:creationId xmlns:p14="http://schemas.microsoft.com/office/powerpoint/2010/main" val="1554939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Объект 1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3852"/>
            <a:ext cx="1342931" cy="434420"/>
          </a:xfrm>
        </p:spPr>
      </p:pic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2DF96E3-9102-929C-D1E7-E0913F5DEACD}"/>
              </a:ext>
            </a:extLst>
          </p:cNvPr>
          <p:cNvSpPr/>
          <p:nvPr/>
        </p:nvSpPr>
        <p:spPr>
          <a:xfrm>
            <a:off x="3458208" y="313852"/>
            <a:ext cx="67002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АЛГОРИТМ МАШИННОГО ОБУЧЕНИЯ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E0F7565-3D3D-8871-C977-6E870B881263}"/>
              </a:ext>
            </a:extLst>
          </p:cNvPr>
          <p:cNvSpPr/>
          <p:nvPr/>
        </p:nvSpPr>
        <p:spPr>
          <a:xfrm>
            <a:off x="925621" y="1293819"/>
            <a:ext cx="108653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Алгоритмы машинного обучения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дерево решений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различные ансамблевые модели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беггинга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бустинга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53B412E-80B9-C233-99A9-8F07270CE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57" y="2198769"/>
            <a:ext cx="4281225" cy="274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 descr="Изображение выглядит как текст, снимок экрана, диаграмм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32BD8F15-B691-F65C-1966-06DBC0D547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610" y="2348738"/>
            <a:ext cx="4121234" cy="2153149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Шрифт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A1812E04-0332-6CA6-CAEA-541F808ED8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902" y="4079093"/>
            <a:ext cx="4121234" cy="247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425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Объект 1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2DF96E3-9102-929C-D1E7-E0913F5DEACD}"/>
              </a:ext>
            </a:extLst>
          </p:cNvPr>
          <p:cNvSpPr/>
          <p:nvPr/>
        </p:nvSpPr>
        <p:spPr>
          <a:xfrm>
            <a:off x="5078005" y="313852"/>
            <a:ext cx="24733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РЕЗУЛЬТАТЫ</a:t>
            </a:r>
          </a:p>
        </p:txBody>
      </p:sp>
      <p:pic>
        <p:nvPicPr>
          <p:cNvPr id="7" name="Рисунок 6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DAD1BA7C-4DB4-651D-535B-AF30D629E8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00" y="1283418"/>
            <a:ext cx="5492900" cy="4922668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FDA8BA1B-84CA-1EBE-06CA-A4BA896DB9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88111"/>
            <a:ext cx="5694947" cy="481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080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2DF96E3-9102-929C-D1E7-E0913F5DEACD}"/>
              </a:ext>
            </a:extLst>
          </p:cNvPr>
          <p:cNvSpPr/>
          <p:nvPr/>
        </p:nvSpPr>
        <p:spPr>
          <a:xfrm>
            <a:off x="5078005" y="313852"/>
            <a:ext cx="17999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ВЫВОДЫ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E0F7565-3D3D-8871-C977-6E870B881263}"/>
              </a:ext>
            </a:extLst>
          </p:cNvPr>
          <p:cNvSpPr/>
          <p:nvPr/>
        </p:nvSpPr>
        <p:spPr>
          <a:xfrm>
            <a:off x="925620" y="1359853"/>
            <a:ext cx="9771972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Изучены принципы работы машинного обучения 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Проведен анализ параметров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Собраны данные по погоде и солнечной генерации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Разработаны алгоритмы предобработки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данны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Разработаны модели для  краткосрочного прогнозирования солнечной генерации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Объект 1">
            <a:extLst>
              <a:ext uri="{FF2B5EF4-FFF2-40B4-BE49-F238E27FC236}">
                <a16:creationId xmlns:a16="http://schemas.microsoft.com/office/drawing/2014/main" id="{45E91212-41E0-9FDE-7CC4-6060BECFD9E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3852"/>
            <a:ext cx="1342931" cy="43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148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141"/>
          <a:stretch/>
        </p:blipFill>
        <p:spPr>
          <a:xfrm>
            <a:off x="0" y="-45105"/>
            <a:ext cx="12192000" cy="1022713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B7A7163-AA9F-3327-B46E-31A603A41F66}"/>
              </a:ext>
            </a:extLst>
          </p:cNvPr>
          <p:cNvSpPr/>
          <p:nvPr/>
        </p:nvSpPr>
        <p:spPr>
          <a:xfrm>
            <a:off x="3806557" y="3167390"/>
            <a:ext cx="47843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742448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764</TotalTime>
  <Words>293</Words>
  <Application>Microsoft Office PowerPoint</Application>
  <PresentationFormat>Широкоэкранный</PresentationFormat>
  <Paragraphs>48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Symbol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Design</dc:creator>
  <cp:lastModifiedBy>Бачурин Матвей Владимирович</cp:lastModifiedBy>
  <cp:revision>55</cp:revision>
  <dcterms:created xsi:type="dcterms:W3CDTF">2019-05-31T06:38:44Z</dcterms:created>
  <dcterms:modified xsi:type="dcterms:W3CDTF">2023-06-08T06:40:20Z</dcterms:modified>
</cp:coreProperties>
</file>